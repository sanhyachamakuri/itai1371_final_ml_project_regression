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C062D9-2448-4D14-B2C8-2C8F28E67FFA}" type="datetimeFigureOut">
              <a:rPr lang="en-US" smtClean="0"/>
              <a:t>5/5/2026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F6C68A-2A48-4749-8DE6-950BADD8903B}" type="slidenum">
              <a:rPr lang="en-US" smtClean="0"/>
              <a:t>‹#›</a:t>
            </a:fld>
            <a:endParaRPr lang="en-US"/>
          </a:p>
        </p:txBody>
      </p:sp>
    </p:spTree>
    <p:extLst>
      <p:ext uri="{BB962C8B-B14F-4D97-AF65-F5344CB8AC3E}">
        <p14:creationId xmlns:p14="http://schemas.microsoft.com/office/powerpoint/2010/main" val="20362687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CF6C68A-2A48-4749-8DE6-950BADD8903B}" type="slidenum">
              <a:rPr lang="en-US" smtClean="0"/>
              <a:t>1</a:t>
            </a:fld>
            <a:endParaRPr lang="en-US"/>
          </a:p>
        </p:txBody>
      </p:sp>
    </p:spTree>
    <p:extLst>
      <p:ext uri="{BB962C8B-B14F-4D97-AF65-F5344CB8AC3E}">
        <p14:creationId xmlns:p14="http://schemas.microsoft.com/office/powerpoint/2010/main" val="3081134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0A70A-2583-333E-D46F-53FAAA58BF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5DD23DA-35CD-1E94-E708-34AF48A30B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1F80A19-4502-68AF-57A0-EBF7B1466262}"/>
              </a:ext>
            </a:extLst>
          </p:cNvPr>
          <p:cNvSpPr>
            <a:spLocks noGrp="1"/>
          </p:cNvSpPr>
          <p:nvPr>
            <p:ph type="dt" sz="half" idx="10"/>
          </p:nvPr>
        </p:nvSpPr>
        <p:spPr/>
        <p:txBody>
          <a:bodyPr/>
          <a:lstStyle/>
          <a:p>
            <a:fld id="{E505E122-C8D6-4EBE-B7B6-BD8D2581FE3F}" type="datetimeFigureOut">
              <a:rPr lang="en-US" smtClean="0"/>
              <a:t>5/5/2026</a:t>
            </a:fld>
            <a:endParaRPr lang="en-US"/>
          </a:p>
        </p:txBody>
      </p:sp>
      <p:sp>
        <p:nvSpPr>
          <p:cNvPr id="5" name="Footer Placeholder 4">
            <a:extLst>
              <a:ext uri="{FF2B5EF4-FFF2-40B4-BE49-F238E27FC236}">
                <a16:creationId xmlns:a16="http://schemas.microsoft.com/office/drawing/2014/main" id="{E8B62D1C-6089-DA2D-0446-D82EAC4ED3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DC3820-8AB0-33FE-61E9-F7AB7041F89C}"/>
              </a:ext>
            </a:extLst>
          </p:cNvPr>
          <p:cNvSpPr>
            <a:spLocks noGrp="1"/>
          </p:cNvSpPr>
          <p:nvPr>
            <p:ph type="sldNum" sz="quarter" idx="12"/>
          </p:nvPr>
        </p:nvSpPr>
        <p:spPr/>
        <p:txBody>
          <a:bodyPr/>
          <a:lstStyle/>
          <a:p>
            <a:fld id="{EADD4309-36FD-49D1-BBDA-E2467A4792F8}" type="slidenum">
              <a:rPr lang="en-US" smtClean="0"/>
              <a:t>‹#›</a:t>
            </a:fld>
            <a:endParaRPr lang="en-US"/>
          </a:p>
        </p:txBody>
      </p:sp>
    </p:spTree>
    <p:extLst>
      <p:ext uri="{BB962C8B-B14F-4D97-AF65-F5344CB8AC3E}">
        <p14:creationId xmlns:p14="http://schemas.microsoft.com/office/powerpoint/2010/main" val="17661837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F9647-48F5-0AD6-88D8-EBEEA9B722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AF3819A-00A9-24E4-6204-03FD6D669DA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FDCC2A-E419-488E-4FA5-A58A3A1CDF7C}"/>
              </a:ext>
            </a:extLst>
          </p:cNvPr>
          <p:cNvSpPr>
            <a:spLocks noGrp="1"/>
          </p:cNvSpPr>
          <p:nvPr>
            <p:ph type="dt" sz="half" idx="10"/>
          </p:nvPr>
        </p:nvSpPr>
        <p:spPr/>
        <p:txBody>
          <a:bodyPr/>
          <a:lstStyle/>
          <a:p>
            <a:fld id="{E505E122-C8D6-4EBE-B7B6-BD8D2581FE3F}" type="datetimeFigureOut">
              <a:rPr lang="en-US" smtClean="0"/>
              <a:t>5/5/2026</a:t>
            </a:fld>
            <a:endParaRPr lang="en-US"/>
          </a:p>
        </p:txBody>
      </p:sp>
      <p:sp>
        <p:nvSpPr>
          <p:cNvPr id="5" name="Footer Placeholder 4">
            <a:extLst>
              <a:ext uri="{FF2B5EF4-FFF2-40B4-BE49-F238E27FC236}">
                <a16:creationId xmlns:a16="http://schemas.microsoft.com/office/drawing/2014/main" id="{F312FEF0-4F2C-A378-F2E4-ECDC536042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5A9EE1-35C9-F974-606A-44497D80BE3C}"/>
              </a:ext>
            </a:extLst>
          </p:cNvPr>
          <p:cNvSpPr>
            <a:spLocks noGrp="1"/>
          </p:cNvSpPr>
          <p:nvPr>
            <p:ph type="sldNum" sz="quarter" idx="12"/>
          </p:nvPr>
        </p:nvSpPr>
        <p:spPr/>
        <p:txBody>
          <a:bodyPr/>
          <a:lstStyle/>
          <a:p>
            <a:fld id="{EADD4309-36FD-49D1-BBDA-E2467A4792F8}" type="slidenum">
              <a:rPr lang="en-US" smtClean="0"/>
              <a:t>‹#›</a:t>
            </a:fld>
            <a:endParaRPr lang="en-US"/>
          </a:p>
        </p:txBody>
      </p:sp>
    </p:spTree>
    <p:extLst>
      <p:ext uri="{BB962C8B-B14F-4D97-AF65-F5344CB8AC3E}">
        <p14:creationId xmlns:p14="http://schemas.microsoft.com/office/powerpoint/2010/main" val="3225792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32462-2F5C-B6FC-D7A8-473CB391EC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0B9B5BA-484F-21C1-1122-8B7B8736F45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2E145D-C925-DA00-3A30-FFFF0E4C2FBF}"/>
              </a:ext>
            </a:extLst>
          </p:cNvPr>
          <p:cNvSpPr>
            <a:spLocks noGrp="1"/>
          </p:cNvSpPr>
          <p:nvPr>
            <p:ph type="dt" sz="half" idx="10"/>
          </p:nvPr>
        </p:nvSpPr>
        <p:spPr/>
        <p:txBody>
          <a:bodyPr/>
          <a:lstStyle/>
          <a:p>
            <a:fld id="{E505E122-C8D6-4EBE-B7B6-BD8D2581FE3F}" type="datetimeFigureOut">
              <a:rPr lang="en-US" smtClean="0"/>
              <a:t>5/5/2026</a:t>
            </a:fld>
            <a:endParaRPr lang="en-US"/>
          </a:p>
        </p:txBody>
      </p:sp>
      <p:sp>
        <p:nvSpPr>
          <p:cNvPr id="5" name="Footer Placeholder 4">
            <a:extLst>
              <a:ext uri="{FF2B5EF4-FFF2-40B4-BE49-F238E27FC236}">
                <a16:creationId xmlns:a16="http://schemas.microsoft.com/office/drawing/2014/main" id="{E5497378-3E15-425D-4FF6-6CE4E3CCC8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A96C4C-CF45-A3FB-7ACF-37D480BF1926}"/>
              </a:ext>
            </a:extLst>
          </p:cNvPr>
          <p:cNvSpPr>
            <a:spLocks noGrp="1"/>
          </p:cNvSpPr>
          <p:nvPr>
            <p:ph type="sldNum" sz="quarter" idx="12"/>
          </p:nvPr>
        </p:nvSpPr>
        <p:spPr/>
        <p:txBody>
          <a:bodyPr/>
          <a:lstStyle/>
          <a:p>
            <a:fld id="{EADD4309-36FD-49D1-BBDA-E2467A4792F8}" type="slidenum">
              <a:rPr lang="en-US" smtClean="0"/>
              <a:t>‹#›</a:t>
            </a:fld>
            <a:endParaRPr lang="en-US"/>
          </a:p>
        </p:txBody>
      </p:sp>
    </p:spTree>
    <p:extLst>
      <p:ext uri="{BB962C8B-B14F-4D97-AF65-F5344CB8AC3E}">
        <p14:creationId xmlns:p14="http://schemas.microsoft.com/office/powerpoint/2010/main" val="30841186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A705A-DFFD-90AA-B0E6-04B647D724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EDE785-1719-FA40-C60C-8547426B2C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EC8C891-526F-D49E-AD19-BDD0726CDDE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333A0F-4E98-8CDB-36F5-6D7FBFA29590}"/>
              </a:ext>
            </a:extLst>
          </p:cNvPr>
          <p:cNvSpPr>
            <a:spLocks noGrp="1"/>
          </p:cNvSpPr>
          <p:nvPr>
            <p:ph type="dt" sz="half" idx="10"/>
          </p:nvPr>
        </p:nvSpPr>
        <p:spPr/>
        <p:txBody>
          <a:bodyPr/>
          <a:lstStyle/>
          <a:p>
            <a:fld id="{E505E122-C8D6-4EBE-B7B6-BD8D2581FE3F}" type="datetimeFigureOut">
              <a:rPr lang="en-US" smtClean="0"/>
              <a:t>5/5/2026</a:t>
            </a:fld>
            <a:endParaRPr lang="en-US"/>
          </a:p>
        </p:txBody>
      </p:sp>
      <p:sp>
        <p:nvSpPr>
          <p:cNvPr id="6" name="Footer Placeholder 5">
            <a:extLst>
              <a:ext uri="{FF2B5EF4-FFF2-40B4-BE49-F238E27FC236}">
                <a16:creationId xmlns:a16="http://schemas.microsoft.com/office/drawing/2014/main" id="{88020DBA-619B-2151-1C38-27743DFCAF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5E42D7-E9AE-FD8B-F025-C16043BC9694}"/>
              </a:ext>
            </a:extLst>
          </p:cNvPr>
          <p:cNvSpPr>
            <a:spLocks noGrp="1"/>
          </p:cNvSpPr>
          <p:nvPr>
            <p:ph type="sldNum" sz="quarter" idx="12"/>
          </p:nvPr>
        </p:nvSpPr>
        <p:spPr/>
        <p:txBody>
          <a:bodyPr/>
          <a:lstStyle/>
          <a:p>
            <a:fld id="{EADD4309-36FD-49D1-BBDA-E2467A4792F8}" type="slidenum">
              <a:rPr lang="en-US" smtClean="0"/>
              <a:t>‹#›</a:t>
            </a:fld>
            <a:endParaRPr lang="en-US"/>
          </a:p>
        </p:txBody>
      </p:sp>
    </p:spTree>
    <p:extLst>
      <p:ext uri="{BB962C8B-B14F-4D97-AF65-F5344CB8AC3E}">
        <p14:creationId xmlns:p14="http://schemas.microsoft.com/office/powerpoint/2010/main" val="1799523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EC7B9-4F98-523E-4A47-9473DEFD601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630635D-0B25-C058-426D-E2CCDBCEFE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2A36B2-9037-2BC7-1E33-53E1BE4148E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2719C1F-60E1-6BCB-75C6-F0E5C67833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A22A88D-3EFF-7877-B1B0-4FC30EE56F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036443D-0D9E-97FC-5002-CC423F36F3BF}"/>
              </a:ext>
            </a:extLst>
          </p:cNvPr>
          <p:cNvSpPr>
            <a:spLocks noGrp="1"/>
          </p:cNvSpPr>
          <p:nvPr>
            <p:ph type="dt" sz="half" idx="10"/>
          </p:nvPr>
        </p:nvSpPr>
        <p:spPr/>
        <p:txBody>
          <a:bodyPr/>
          <a:lstStyle/>
          <a:p>
            <a:fld id="{E505E122-C8D6-4EBE-B7B6-BD8D2581FE3F}" type="datetimeFigureOut">
              <a:rPr lang="en-US" smtClean="0"/>
              <a:t>5/5/2026</a:t>
            </a:fld>
            <a:endParaRPr lang="en-US"/>
          </a:p>
        </p:txBody>
      </p:sp>
      <p:sp>
        <p:nvSpPr>
          <p:cNvPr id="8" name="Footer Placeholder 7">
            <a:extLst>
              <a:ext uri="{FF2B5EF4-FFF2-40B4-BE49-F238E27FC236}">
                <a16:creationId xmlns:a16="http://schemas.microsoft.com/office/drawing/2014/main" id="{81028D6F-2BDF-1C70-B6C2-BD5E10ECD9F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8ABE8E-9EAC-902D-A28B-AC670D6E79D4}"/>
              </a:ext>
            </a:extLst>
          </p:cNvPr>
          <p:cNvSpPr>
            <a:spLocks noGrp="1"/>
          </p:cNvSpPr>
          <p:nvPr>
            <p:ph type="sldNum" sz="quarter" idx="12"/>
          </p:nvPr>
        </p:nvSpPr>
        <p:spPr/>
        <p:txBody>
          <a:bodyPr/>
          <a:lstStyle/>
          <a:p>
            <a:fld id="{EADD4309-36FD-49D1-BBDA-E2467A4792F8}" type="slidenum">
              <a:rPr lang="en-US" smtClean="0"/>
              <a:t>‹#›</a:t>
            </a:fld>
            <a:endParaRPr lang="en-US"/>
          </a:p>
        </p:txBody>
      </p:sp>
    </p:spTree>
    <p:extLst>
      <p:ext uri="{BB962C8B-B14F-4D97-AF65-F5344CB8AC3E}">
        <p14:creationId xmlns:p14="http://schemas.microsoft.com/office/powerpoint/2010/main" val="203671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41667-8F1B-50A9-AA67-86F36D61837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5BABA14-3321-F190-EB2B-959FBC637070}"/>
              </a:ext>
            </a:extLst>
          </p:cNvPr>
          <p:cNvSpPr>
            <a:spLocks noGrp="1"/>
          </p:cNvSpPr>
          <p:nvPr>
            <p:ph type="dt" sz="half" idx="10"/>
          </p:nvPr>
        </p:nvSpPr>
        <p:spPr/>
        <p:txBody>
          <a:bodyPr/>
          <a:lstStyle/>
          <a:p>
            <a:fld id="{E505E122-C8D6-4EBE-B7B6-BD8D2581FE3F}" type="datetimeFigureOut">
              <a:rPr lang="en-US" smtClean="0"/>
              <a:t>5/5/2026</a:t>
            </a:fld>
            <a:endParaRPr lang="en-US"/>
          </a:p>
        </p:txBody>
      </p:sp>
      <p:sp>
        <p:nvSpPr>
          <p:cNvPr id="4" name="Footer Placeholder 3">
            <a:extLst>
              <a:ext uri="{FF2B5EF4-FFF2-40B4-BE49-F238E27FC236}">
                <a16:creationId xmlns:a16="http://schemas.microsoft.com/office/drawing/2014/main" id="{10D34BB5-6C7D-8265-5B93-56B35EF73B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FB6923D-A778-539B-A547-7294B3DC8CD6}"/>
              </a:ext>
            </a:extLst>
          </p:cNvPr>
          <p:cNvSpPr>
            <a:spLocks noGrp="1"/>
          </p:cNvSpPr>
          <p:nvPr>
            <p:ph type="sldNum" sz="quarter" idx="12"/>
          </p:nvPr>
        </p:nvSpPr>
        <p:spPr/>
        <p:txBody>
          <a:bodyPr/>
          <a:lstStyle/>
          <a:p>
            <a:fld id="{EADD4309-36FD-49D1-BBDA-E2467A4792F8}" type="slidenum">
              <a:rPr lang="en-US" smtClean="0"/>
              <a:t>‹#›</a:t>
            </a:fld>
            <a:endParaRPr lang="en-US"/>
          </a:p>
        </p:txBody>
      </p:sp>
    </p:spTree>
    <p:extLst>
      <p:ext uri="{BB962C8B-B14F-4D97-AF65-F5344CB8AC3E}">
        <p14:creationId xmlns:p14="http://schemas.microsoft.com/office/powerpoint/2010/main" val="355421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E67AC8-CDC3-8785-0B9F-458C735F0938}"/>
              </a:ext>
            </a:extLst>
          </p:cNvPr>
          <p:cNvSpPr>
            <a:spLocks noGrp="1"/>
          </p:cNvSpPr>
          <p:nvPr>
            <p:ph type="dt" sz="half" idx="10"/>
          </p:nvPr>
        </p:nvSpPr>
        <p:spPr/>
        <p:txBody>
          <a:bodyPr/>
          <a:lstStyle/>
          <a:p>
            <a:fld id="{E505E122-C8D6-4EBE-B7B6-BD8D2581FE3F}" type="datetimeFigureOut">
              <a:rPr lang="en-US" smtClean="0"/>
              <a:t>5/5/2026</a:t>
            </a:fld>
            <a:endParaRPr lang="en-US"/>
          </a:p>
        </p:txBody>
      </p:sp>
      <p:sp>
        <p:nvSpPr>
          <p:cNvPr id="3" name="Footer Placeholder 2">
            <a:extLst>
              <a:ext uri="{FF2B5EF4-FFF2-40B4-BE49-F238E27FC236}">
                <a16:creationId xmlns:a16="http://schemas.microsoft.com/office/drawing/2014/main" id="{5F1ABDB0-A671-F416-64ED-052DA85D47A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0B22A3E-9E1B-7549-5055-E75D3239DC67}"/>
              </a:ext>
            </a:extLst>
          </p:cNvPr>
          <p:cNvSpPr>
            <a:spLocks noGrp="1"/>
          </p:cNvSpPr>
          <p:nvPr>
            <p:ph type="sldNum" sz="quarter" idx="12"/>
          </p:nvPr>
        </p:nvSpPr>
        <p:spPr/>
        <p:txBody>
          <a:bodyPr/>
          <a:lstStyle/>
          <a:p>
            <a:fld id="{EADD4309-36FD-49D1-BBDA-E2467A4792F8}" type="slidenum">
              <a:rPr lang="en-US" smtClean="0"/>
              <a:t>‹#›</a:t>
            </a:fld>
            <a:endParaRPr lang="en-US"/>
          </a:p>
        </p:txBody>
      </p:sp>
    </p:spTree>
    <p:extLst>
      <p:ext uri="{BB962C8B-B14F-4D97-AF65-F5344CB8AC3E}">
        <p14:creationId xmlns:p14="http://schemas.microsoft.com/office/powerpoint/2010/main" val="4867172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B685B-1D37-F93A-5392-722D7059EC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FE6A815-709A-0724-4BC4-C4D566FBAE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8B1E966-D601-0277-03B6-C987FFA5FC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FA55FA-BDDB-5532-0569-ECAE12923728}"/>
              </a:ext>
            </a:extLst>
          </p:cNvPr>
          <p:cNvSpPr>
            <a:spLocks noGrp="1"/>
          </p:cNvSpPr>
          <p:nvPr>
            <p:ph type="dt" sz="half" idx="10"/>
          </p:nvPr>
        </p:nvSpPr>
        <p:spPr/>
        <p:txBody>
          <a:bodyPr/>
          <a:lstStyle/>
          <a:p>
            <a:fld id="{E505E122-C8D6-4EBE-B7B6-BD8D2581FE3F}" type="datetimeFigureOut">
              <a:rPr lang="en-US" smtClean="0"/>
              <a:t>5/5/2026</a:t>
            </a:fld>
            <a:endParaRPr lang="en-US"/>
          </a:p>
        </p:txBody>
      </p:sp>
      <p:sp>
        <p:nvSpPr>
          <p:cNvPr id="6" name="Footer Placeholder 5">
            <a:extLst>
              <a:ext uri="{FF2B5EF4-FFF2-40B4-BE49-F238E27FC236}">
                <a16:creationId xmlns:a16="http://schemas.microsoft.com/office/drawing/2014/main" id="{4B524E38-1A81-FE7B-7417-95C4A76D40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24AE06-5918-5DBA-55A6-41DFD71B52C4}"/>
              </a:ext>
            </a:extLst>
          </p:cNvPr>
          <p:cNvSpPr>
            <a:spLocks noGrp="1"/>
          </p:cNvSpPr>
          <p:nvPr>
            <p:ph type="sldNum" sz="quarter" idx="12"/>
          </p:nvPr>
        </p:nvSpPr>
        <p:spPr/>
        <p:txBody>
          <a:bodyPr/>
          <a:lstStyle/>
          <a:p>
            <a:fld id="{EADD4309-36FD-49D1-BBDA-E2467A4792F8}" type="slidenum">
              <a:rPr lang="en-US" smtClean="0"/>
              <a:t>‹#›</a:t>
            </a:fld>
            <a:endParaRPr lang="en-US"/>
          </a:p>
        </p:txBody>
      </p:sp>
    </p:spTree>
    <p:extLst>
      <p:ext uri="{BB962C8B-B14F-4D97-AF65-F5344CB8AC3E}">
        <p14:creationId xmlns:p14="http://schemas.microsoft.com/office/powerpoint/2010/main" val="2835309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EB39F-2155-ABBB-6585-5425E05675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2FE75D-8A54-0020-6EFA-96790F2191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D417E74-DDB8-3BCB-9E83-78F5557B61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0910AD-7706-9ADE-0FD0-43339F3A8FE5}"/>
              </a:ext>
            </a:extLst>
          </p:cNvPr>
          <p:cNvSpPr>
            <a:spLocks noGrp="1"/>
          </p:cNvSpPr>
          <p:nvPr>
            <p:ph type="dt" sz="half" idx="10"/>
          </p:nvPr>
        </p:nvSpPr>
        <p:spPr/>
        <p:txBody>
          <a:bodyPr/>
          <a:lstStyle/>
          <a:p>
            <a:fld id="{E505E122-C8D6-4EBE-B7B6-BD8D2581FE3F}" type="datetimeFigureOut">
              <a:rPr lang="en-US" smtClean="0"/>
              <a:t>5/5/2026</a:t>
            </a:fld>
            <a:endParaRPr lang="en-US"/>
          </a:p>
        </p:txBody>
      </p:sp>
      <p:sp>
        <p:nvSpPr>
          <p:cNvPr id="6" name="Footer Placeholder 5">
            <a:extLst>
              <a:ext uri="{FF2B5EF4-FFF2-40B4-BE49-F238E27FC236}">
                <a16:creationId xmlns:a16="http://schemas.microsoft.com/office/drawing/2014/main" id="{AD0BA534-DCCD-1584-AC66-DF3E91318C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BB1F16-3EAE-7870-F35B-A172895F8081}"/>
              </a:ext>
            </a:extLst>
          </p:cNvPr>
          <p:cNvSpPr>
            <a:spLocks noGrp="1"/>
          </p:cNvSpPr>
          <p:nvPr>
            <p:ph type="sldNum" sz="quarter" idx="12"/>
          </p:nvPr>
        </p:nvSpPr>
        <p:spPr/>
        <p:txBody>
          <a:bodyPr/>
          <a:lstStyle/>
          <a:p>
            <a:fld id="{EADD4309-36FD-49D1-BBDA-E2467A4792F8}" type="slidenum">
              <a:rPr lang="en-US" smtClean="0"/>
              <a:t>‹#›</a:t>
            </a:fld>
            <a:endParaRPr lang="en-US"/>
          </a:p>
        </p:txBody>
      </p:sp>
    </p:spTree>
    <p:extLst>
      <p:ext uri="{BB962C8B-B14F-4D97-AF65-F5344CB8AC3E}">
        <p14:creationId xmlns:p14="http://schemas.microsoft.com/office/powerpoint/2010/main" val="31797913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311BB-D68F-96F4-59A5-71AA7877B3B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682ECE0-F4CF-C6CB-424D-33193F5D82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C784BE-29D8-6B1C-E0B5-13BE3B18066F}"/>
              </a:ext>
            </a:extLst>
          </p:cNvPr>
          <p:cNvSpPr>
            <a:spLocks noGrp="1"/>
          </p:cNvSpPr>
          <p:nvPr>
            <p:ph type="dt" sz="half" idx="10"/>
          </p:nvPr>
        </p:nvSpPr>
        <p:spPr/>
        <p:txBody>
          <a:bodyPr/>
          <a:lstStyle/>
          <a:p>
            <a:fld id="{E505E122-C8D6-4EBE-B7B6-BD8D2581FE3F}" type="datetimeFigureOut">
              <a:rPr lang="en-US" smtClean="0"/>
              <a:t>5/5/2026</a:t>
            </a:fld>
            <a:endParaRPr lang="en-US"/>
          </a:p>
        </p:txBody>
      </p:sp>
      <p:sp>
        <p:nvSpPr>
          <p:cNvPr id="5" name="Footer Placeholder 4">
            <a:extLst>
              <a:ext uri="{FF2B5EF4-FFF2-40B4-BE49-F238E27FC236}">
                <a16:creationId xmlns:a16="http://schemas.microsoft.com/office/drawing/2014/main" id="{04DC8958-D11F-33CF-4B29-8FD55CD251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321033-FB31-F60D-E4EF-847A0391F554}"/>
              </a:ext>
            </a:extLst>
          </p:cNvPr>
          <p:cNvSpPr>
            <a:spLocks noGrp="1"/>
          </p:cNvSpPr>
          <p:nvPr>
            <p:ph type="sldNum" sz="quarter" idx="12"/>
          </p:nvPr>
        </p:nvSpPr>
        <p:spPr/>
        <p:txBody>
          <a:bodyPr/>
          <a:lstStyle/>
          <a:p>
            <a:fld id="{EADD4309-36FD-49D1-BBDA-E2467A4792F8}" type="slidenum">
              <a:rPr lang="en-US" smtClean="0"/>
              <a:t>‹#›</a:t>
            </a:fld>
            <a:endParaRPr lang="en-US"/>
          </a:p>
        </p:txBody>
      </p:sp>
    </p:spTree>
    <p:extLst>
      <p:ext uri="{BB962C8B-B14F-4D97-AF65-F5344CB8AC3E}">
        <p14:creationId xmlns:p14="http://schemas.microsoft.com/office/powerpoint/2010/main" val="3964607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2325A5-492A-6006-8AFE-7978B8C35EB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BDD3C6D-B7AA-83C4-1F38-9FBECDF2D67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3514EB-55A1-C23C-5B3B-DB4B8CB6784F}"/>
              </a:ext>
            </a:extLst>
          </p:cNvPr>
          <p:cNvSpPr>
            <a:spLocks noGrp="1"/>
          </p:cNvSpPr>
          <p:nvPr>
            <p:ph type="dt" sz="half" idx="10"/>
          </p:nvPr>
        </p:nvSpPr>
        <p:spPr/>
        <p:txBody>
          <a:bodyPr/>
          <a:lstStyle/>
          <a:p>
            <a:fld id="{E505E122-C8D6-4EBE-B7B6-BD8D2581FE3F}" type="datetimeFigureOut">
              <a:rPr lang="en-US" smtClean="0"/>
              <a:t>5/5/2026</a:t>
            </a:fld>
            <a:endParaRPr lang="en-US"/>
          </a:p>
        </p:txBody>
      </p:sp>
      <p:sp>
        <p:nvSpPr>
          <p:cNvPr id="5" name="Footer Placeholder 4">
            <a:extLst>
              <a:ext uri="{FF2B5EF4-FFF2-40B4-BE49-F238E27FC236}">
                <a16:creationId xmlns:a16="http://schemas.microsoft.com/office/drawing/2014/main" id="{631ED120-9E53-5526-F5E5-C613ED30F5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886626-2EE2-855D-8033-8065B4A01F7D}"/>
              </a:ext>
            </a:extLst>
          </p:cNvPr>
          <p:cNvSpPr>
            <a:spLocks noGrp="1"/>
          </p:cNvSpPr>
          <p:nvPr>
            <p:ph type="sldNum" sz="quarter" idx="12"/>
          </p:nvPr>
        </p:nvSpPr>
        <p:spPr/>
        <p:txBody>
          <a:bodyPr/>
          <a:lstStyle/>
          <a:p>
            <a:fld id="{EADD4309-36FD-49D1-BBDA-E2467A4792F8}" type="slidenum">
              <a:rPr lang="en-US" smtClean="0"/>
              <a:t>‹#›</a:t>
            </a:fld>
            <a:endParaRPr lang="en-US"/>
          </a:p>
        </p:txBody>
      </p:sp>
    </p:spTree>
    <p:extLst>
      <p:ext uri="{BB962C8B-B14F-4D97-AF65-F5344CB8AC3E}">
        <p14:creationId xmlns:p14="http://schemas.microsoft.com/office/powerpoint/2010/main" val="2707543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BA0A5B-B583-6404-F355-C59B4A899D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378705-6474-04E4-9975-342EDC49BD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E4B66B-BEB7-8968-FB4B-CD96F47C91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05E122-C8D6-4EBE-B7B6-BD8D2581FE3F}" type="datetimeFigureOut">
              <a:rPr lang="en-US" smtClean="0"/>
              <a:t>5/5/2026</a:t>
            </a:fld>
            <a:endParaRPr lang="en-US"/>
          </a:p>
        </p:txBody>
      </p:sp>
      <p:sp>
        <p:nvSpPr>
          <p:cNvPr id="5" name="Footer Placeholder 4">
            <a:extLst>
              <a:ext uri="{FF2B5EF4-FFF2-40B4-BE49-F238E27FC236}">
                <a16:creationId xmlns:a16="http://schemas.microsoft.com/office/drawing/2014/main" id="{E7AFA069-4561-39F4-4E16-D94FF998DE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9B12B7C-1A9C-58A4-34AD-479077B8B7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DD4309-36FD-49D1-BBDA-E2467A4792F8}" type="slidenum">
              <a:rPr lang="en-US" smtClean="0"/>
              <a:t>‹#›</a:t>
            </a:fld>
            <a:endParaRPr lang="en-US"/>
          </a:p>
        </p:txBody>
      </p:sp>
    </p:spTree>
    <p:extLst>
      <p:ext uri="{BB962C8B-B14F-4D97-AF65-F5344CB8AC3E}">
        <p14:creationId xmlns:p14="http://schemas.microsoft.com/office/powerpoint/2010/main" val="23895491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B7C2A-903F-16EA-CB30-E8B20A27D7D1}"/>
              </a:ext>
            </a:extLst>
          </p:cNvPr>
          <p:cNvSpPr>
            <a:spLocks noGrp="1"/>
          </p:cNvSpPr>
          <p:nvPr>
            <p:ph type="ctrTitle"/>
          </p:nvPr>
        </p:nvSpPr>
        <p:spPr>
          <a:xfrm>
            <a:off x="1204210" y="981856"/>
            <a:ext cx="9783580" cy="599606"/>
          </a:xfrm>
        </p:spPr>
        <p:txBody>
          <a:bodyPr>
            <a:noAutofit/>
          </a:bodyPr>
          <a:lstStyle/>
          <a:p>
            <a:r>
              <a:rPr lang="en-US" sz="2000" i="1" dirty="0">
                <a:solidFill>
                  <a:schemeClr val="accent1"/>
                </a:solidFill>
              </a:rPr>
              <a:t>Regression Task — Validation &amp; Test Metrics</a:t>
            </a:r>
            <a:br>
              <a:rPr lang="en-US" sz="2000" dirty="0">
                <a:solidFill>
                  <a:schemeClr val="accent1"/>
                </a:solidFill>
              </a:rPr>
            </a:br>
            <a:r>
              <a:rPr lang="en-US" sz="2000" i="1" dirty="0">
                <a:solidFill>
                  <a:schemeClr val="accent1"/>
                </a:solidFill>
              </a:rPr>
              <a:t>ITAI 1371 | Spring 2026</a:t>
            </a:r>
            <a:endParaRPr lang="en-US" sz="2000" dirty="0">
              <a:solidFill>
                <a:schemeClr val="accent1"/>
              </a:solidFill>
            </a:endParaRPr>
          </a:p>
        </p:txBody>
      </p:sp>
      <p:sp>
        <p:nvSpPr>
          <p:cNvPr id="3" name="Subtitle 2">
            <a:extLst>
              <a:ext uri="{FF2B5EF4-FFF2-40B4-BE49-F238E27FC236}">
                <a16:creationId xmlns:a16="http://schemas.microsoft.com/office/drawing/2014/main" id="{5C1B979A-A9AA-11CB-90A3-A29347EBC1BF}"/>
              </a:ext>
            </a:extLst>
          </p:cNvPr>
          <p:cNvSpPr>
            <a:spLocks noGrp="1"/>
          </p:cNvSpPr>
          <p:nvPr>
            <p:ph type="subTitle" idx="1"/>
          </p:nvPr>
        </p:nvSpPr>
        <p:spPr>
          <a:xfrm>
            <a:off x="1524000" y="498424"/>
            <a:ext cx="9144000" cy="599606"/>
          </a:xfrm>
        </p:spPr>
        <p:txBody>
          <a:bodyPr>
            <a:noAutofit/>
          </a:bodyPr>
          <a:lstStyle/>
          <a:p>
            <a:r>
              <a:rPr lang="en-US" b="1" dirty="0">
                <a:solidFill>
                  <a:schemeClr val="accent1"/>
                </a:solidFill>
              </a:rPr>
              <a:t>MODEL PERFORMANCE ANALYSIS</a:t>
            </a:r>
          </a:p>
        </p:txBody>
      </p:sp>
      <p:graphicFrame>
        <p:nvGraphicFramePr>
          <p:cNvPr id="6" name="Table 5">
            <a:extLst>
              <a:ext uri="{FF2B5EF4-FFF2-40B4-BE49-F238E27FC236}">
                <a16:creationId xmlns:a16="http://schemas.microsoft.com/office/drawing/2014/main" id="{507ABDD0-6840-00B2-9610-14706D612A7D}"/>
              </a:ext>
            </a:extLst>
          </p:cNvPr>
          <p:cNvGraphicFramePr>
            <a:graphicFrameLocks noGrp="1"/>
          </p:cNvGraphicFramePr>
          <p:nvPr>
            <p:extLst>
              <p:ext uri="{D42A27DB-BD31-4B8C-83A1-F6EECF244321}">
                <p14:modId xmlns:p14="http://schemas.microsoft.com/office/powerpoint/2010/main" val="476500218"/>
              </p:ext>
            </p:extLst>
          </p:nvPr>
        </p:nvGraphicFramePr>
        <p:xfrm>
          <a:off x="269823" y="1765091"/>
          <a:ext cx="11287593" cy="4602652"/>
        </p:xfrm>
        <a:graphic>
          <a:graphicData uri="http://schemas.openxmlformats.org/drawingml/2006/table">
            <a:tbl>
              <a:tblPr>
                <a:tableStyleId>{3C2FFA5D-87B4-456A-9821-1D502468CF0F}</a:tableStyleId>
              </a:tblPr>
              <a:tblGrid>
                <a:gridCol w="2674897">
                  <a:extLst>
                    <a:ext uri="{9D8B030D-6E8A-4147-A177-3AD203B41FA5}">
                      <a16:colId xmlns:a16="http://schemas.microsoft.com/office/drawing/2014/main" val="820728991"/>
                    </a:ext>
                  </a:extLst>
                </a:gridCol>
                <a:gridCol w="1446487">
                  <a:extLst>
                    <a:ext uri="{9D8B030D-6E8A-4147-A177-3AD203B41FA5}">
                      <a16:colId xmlns:a16="http://schemas.microsoft.com/office/drawing/2014/main" val="3052708073"/>
                    </a:ext>
                  </a:extLst>
                </a:gridCol>
                <a:gridCol w="1388271">
                  <a:extLst>
                    <a:ext uri="{9D8B030D-6E8A-4147-A177-3AD203B41FA5}">
                      <a16:colId xmlns:a16="http://schemas.microsoft.com/office/drawing/2014/main" val="2500109582"/>
                    </a:ext>
                  </a:extLst>
                </a:gridCol>
                <a:gridCol w="1445781">
                  <a:extLst>
                    <a:ext uri="{9D8B030D-6E8A-4147-A177-3AD203B41FA5}">
                      <a16:colId xmlns:a16="http://schemas.microsoft.com/office/drawing/2014/main" val="2071913336"/>
                    </a:ext>
                  </a:extLst>
                </a:gridCol>
                <a:gridCol w="1330761">
                  <a:extLst>
                    <a:ext uri="{9D8B030D-6E8A-4147-A177-3AD203B41FA5}">
                      <a16:colId xmlns:a16="http://schemas.microsoft.com/office/drawing/2014/main" val="2392423360"/>
                    </a:ext>
                  </a:extLst>
                </a:gridCol>
                <a:gridCol w="1388271">
                  <a:extLst>
                    <a:ext uri="{9D8B030D-6E8A-4147-A177-3AD203B41FA5}">
                      <a16:colId xmlns:a16="http://schemas.microsoft.com/office/drawing/2014/main" val="1293101858"/>
                    </a:ext>
                  </a:extLst>
                </a:gridCol>
                <a:gridCol w="1613125">
                  <a:extLst>
                    <a:ext uri="{9D8B030D-6E8A-4147-A177-3AD203B41FA5}">
                      <a16:colId xmlns:a16="http://schemas.microsoft.com/office/drawing/2014/main" val="3568310456"/>
                    </a:ext>
                  </a:extLst>
                </a:gridCol>
              </a:tblGrid>
              <a:tr h="738266">
                <a:tc>
                  <a:txBody>
                    <a:bodyPr/>
                    <a:lstStyle/>
                    <a:p>
                      <a:pPr algn="l" fontAlgn="b">
                        <a:buNone/>
                      </a:pPr>
                      <a:r>
                        <a:rPr lang="en-US" sz="2400" b="0" i="0" u="none" strike="noStrike" dirty="0">
                          <a:solidFill>
                            <a:schemeClr val="accent1"/>
                          </a:solidFill>
                          <a:effectLst/>
                          <a:latin typeface="Aptos Narrow" panose="020B0004020202020204" pitchFamily="34" charset="0"/>
                        </a:rPr>
                        <a:t>Model</a:t>
                      </a:r>
                    </a:p>
                  </a:txBody>
                  <a:tcPr marL="9525" marR="9525" marT="9525" marB="0" anchor="b">
                    <a:solidFill>
                      <a:schemeClr val="bg1"/>
                    </a:solidFill>
                  </a:tcPr>
                </a:tc>
                <a:tc gridSpan="3">
                  <a:txBody>
                    <a:bodyPr/>
                    <a:lstStyle/>
                    <a:p>
                      <a:pPr algn="l" fontAlgn="b">
                        <a:buNone/>
                      </a:pPr>
                      <a:r>
                        <a:rPr lang="en-US" sz="2400" b="0" u="none" strike="noStrike" dirty="0">
                          <a:solidFill>
                            <a:schemeClr val="tx1"/>
                          </a:solidFill>
                          <a:effectLst/>
                        </a:rPr>
                        <a:t>                  </a:t>
                      </a:r>
                      <a:r>
                        <a:rPr lang="en-US" sz="2400" b="0" u="none" strike="noStrike" dirty="0">
                          <a:solidFill>
                            <a:schemeClr val="accent1"/>
                          </a:solidFill>
                          <a:effectLst/>
                        </a:rPr>
                        <a:t>Validation Set </a:t>
                      </a:r>
                      <a:endParaRPr lang="en-US" sz="2400" b="0" i="0" u="none" strike="noStrike" dirty="0">
                        <a:solidFill>
                          <a:schemeClr val="accent1"/>
                        </a:solidFill>
                        <a:effectLst/>
                        <a:latin typeface="Aptos Narrow" panose="020B0004020202020204" pitchFamily="34" charset="0"/>
                      </a:endParaRPr>
                    </a:p>
                  </a:txBody>
                  <a:tcPr marL="9525" marR="9525" marT="9525" marB="0" anchor="b">
                    <a:solidFill>
                      <a:schemeClr val="bg1"/>
                    </a:solidFill>
                  </a:tcPr>
                </a:tc>
                <a:tc hMerge="1">
                  <a:txBody>
                    <a:bodyPr/>
                    <a:lstStyle/>
                    <a:p>
                      <a:endParaRPr lang="en-US"/>
                    </a:p>
                  </a:txBody>
                  <a:tcPr/>
                </a:tc>
                <a:tc hMerge="1">
                  <a:txBody>
                    <a:bodyPr/>
                    <a:lstStyle/>
                    <a:p>
                      <a:endParaRPr lang="en-US"/>
                    </a:p>
                  </a:txBody>
                  <a:tcPr/>
                </a:tc>
                <a:tc gridSpan="3">
                  <a:txBody>
                    <a:bodyPr/>
                    <a:lstStyle/>
                    <a:p>
                      <a:pPr algn="l" fontAlgn="b">
                        <a:buNone/>
                      </a:pPr>
                      <a:r>
                        <a:rPr lang="en-US" sz="1800" b="0" u="none" strike="noStrike" dirty="0">
                          <a:solidFill>
                            <a:srgbClr val="C00000"/>
                          </a:solidFill>
                          <a:effectLst/>
                        </a:rPr>
                        <a:t>                           </a:t>
                      </a:r>
                      <a:r>
                        <a:rPr lang="en-US" sz="2400" b="0" u="none" strike="noStrike" dirty="0">
                          <a:solidFill>
                            <a:srgbClr val="C00000"/>
                          </a:solidFill>
                          <a:effectLst/>
                        </a:rPr>
                        <a:t> </a:t>
                      </a:r>
                      <a:r>
                        <a:rPr lang="en-US" sz="2400" b="0" u="none" strike="noStrike" dirty="0">
                          <a:solidFill>
                            <a:schemeClr val="accent1"/>
                          </a:solidFill>
                          <a:effectLst/>
                        </a:rPr>
                        <a:t>Test Set</a:t>
                      </a:r>
                      <a:endParaRPr lang="en-US" sz="2400" b="0" i="0" u="none" strike="noStrike" dirty="0">
                        <a:solidFill>
                          <a:schemeClr val="accent1"/>
                        </a:solidFill>
                        <a:effectLst/>
                        <a:latin typeface="Aptos Narrow" panose="020B0004020202020204" pitchFamily="34" charset="0"/>
                      </a:endParaRPr>
                    </a:p>
                  </a:txBody>
                  <a:tcPr marL="9525" marR="9525" marT="9525" marB="0" anchor="b">
                    <a:solidFill>
                      <a:schemeClr val="bg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84760365"/>
                  </a:ext>
                </a:extLst>
              </a:tr>
              <a:tr h="310035">
                <a:tc>
                  <a:txBody>
                    <a:bodyPr/>
                    <a:lstStyle/>
                    <a:p>
                      <a:pPr algn="l" fontAlgn="b">
                        <a:buNone/>
                      </a:pPr>
                      <a:endParaRPr lang="en-US" sz="2000" b="0" i="0" u="none" strike="noStrike" dirty="0">
                        <a:solidFill>
                          <a:schemeClr val="bg1"/>
                        </a:solidFill>
                        <a:effectLst/>
                        <a:latin typeface="Aptos Narrow" panose="020B0004020202020204" pitchFamily="34" charset="0"/>
                      </a:endParaRPr>
                    </a:p>
                  </a:txBody>
                  <a:tcPr marL="9525" marR="9525" marT="9525" marB="0" anchor="b">
                    <a:solidFill>
                      <a:schemeClr val="bg1"/>
                    </a:solidFill>
                  </a:tcPr>
                </a:tc>
                <a:tc>
                  <a:txBody>
                    <a:bodyPr/>
                    <a:lstStyle/>
                    <a:p>
                      <a:pPr algn="l" fontAlgn="b">
                        <a:buNone/>
                      </a:pPr>
                      <a:r>
                        <a:rPr lang="en-US" sz="2000" b="0" u="none" strike="noStrike" dirty="0" err="1">
                          <a:solidFill>
                            <a:schemeClr val="tx1"/>
                          </a:solidFill>
                          <a:effectLst/>
                        </a:rPr>
                        <a:t>Val_MAE</a:t>
                      </a:r>
                      <a:endParaRPr lang="en-US" sz="2000" b="0" i="0" u="none" strike="noStrike" dirty="0">
                        <a:solidFill>
                          <a:schemeClr val="tx1"/>
                        </a:solidFill>
                        <a:effectLst/>
                        <a:latin typeface="Aptos Narrow" panose="020B0004020202020204" pitchFamily="34" charset="0"/>
                      </a:endParaRPr>
                    </a:p>
                  </a:txBody>
                  <a:tcPr marL="9525" marR="9525" marT="9525" marB="0" anchor="b">
                    <a:solidFill>
                      <a:schemeClr val="bg1"/>
                    </a:solidFill>
                  </a:tcPr>
                </a:tc>
                <a:tc>
                  <a:txBody>
                    <a:bodyPr/>
                    <a:lstStyle/>
                    <a:p>
                      <a:pPr algn="l" fontAlgn="b">
                        <a:buNone/>
                      </a:pPr>
                      <a:r>
                        <a:rPr lang="en-US" sz="2000" b="0" u="none" strike="noStrike" dirty="0" err="1">
                          <a:solidFill>
                            <a:schemeClr val="tx1"/>
                          </a:solidFill>
                          <a:effectLst/>
                        </a:rPr>
                        <a:t>Val_MSE</a:t>
                      </a:r>
                      <a:endParaRPr lang="en-US" sz="2000" b="0" i="0" u="none" strike="noStrike" dirty="0">
                        <a:solidFill>
                          <a:schemeClr val="tx1"/>
                        </a:solidFill>
                        <a:effectLst/>
                        <a:latin typeface="Aptos Narrow" panose="020B0004020202020204" pitchFamily="34" charset="0"/>
                      </a:endParaRPr>
                    </a:p>
                  </a:txBody>
                  <a:tcPr marL="9525" marR="9525" marT="9525" marB="0" anchor="b">
                    <a:solidFill>
                      <a:schemeClr val="bg1"/>
                    </a:solidFill>
                  </a:tcPr>
                </a:tc>
                <a:tc>
                  <a:txBody>
                    <a:bodyPr/>
                    <a:lstStyle/>
                    <a:p>
                      <a:pPr algn="l" fontAlgn="b">
                        <a:buNone/>
                      </a:pPr>
                      <a:r>
                        <a:rPr lang="en-US" sz="2000" b="0" u="none" strike="noStrike" dirty="0">
                          <a:solidFill>
                            <a:schemeClr val="tx1"/>
                          </a:solidFill>
                          <a:effectLst/>
                        </a:rPr>
                        <a:t>Val_R2</a:t>
                      </a:r>
                      <a:endParaRPr lang="en-US" sz="2000" b="0" i="0" u="none" strike="noStrike" dirty="0">
                        <a:solidFill>
                          <a:schemeClr val="tx1"/>
                        </a:solidFill>
                        <a:effectLst/>
                        <a:latin typeface="Aptos Narrow" panose="020B0004020202020204" pitchFamily="34" charset="0"/>
                      </a:endParaRPr>
                    </a:p>
                  </a:txBody>
                  <a:tcPr marL="9525" marR="9525" marT="9525" marB="0" anchor="b">
                    <a:solidFill>
                      <a:schemeClr val="bg1"/>
                    </a:solidFill>
                  </a:tcPr>
                </a:tc>
                <a:tc>
                  <a:txBody>
                    <a:bodyPr/>
                    <a:lstStyle/>
                    <a:p>
                      <a:pPr algn="l" fontAlgn="b">
                        <a:buNone/>
                      </a:pPr>
                      <a:r>
                        <a:rPr lang="en-US" sz="2000" b="0" u="none" strike="noStrike" dirty="0" err="1">
                          <a:solidFill>
                            <a:schemeClr val="tx1"/>
                          </a:solidFill>
                          <a:effectLst/>
                        </a:rPr>
                        <a:t>Test_MAE</a:t>
                      </a:r>
                      <a:endParaRPr lang="en-US" sz="2000" b="0" i="0" u="none" strike="noStrike" dirty="0">
                        <a:solidFill>
                          <a:schemeClr val="tx1"/>
                        </a:solidFill>
                        <a:effectLst/>
                        <a:latin typeface="Aptos Narrow" panose="020B0004020202020204" pitchFamily="34" charset="0"/>
                      </a:endParaRPr>
                    </a:p>
                  </a:txBody>
                  <a:tcPr marL="9525" marR="9525" marT="9525" marB="0" anchor="b">
                    <a:solidFill>
                      <a:schemeClr val="bg1"/>
                    </a:solidFill>
                  </a:tcPr>
                </a:tc>
                <a:tc>
                  <a:txBody>
                    <a:bodyPr/>
                    <a:lstStyle/>
                    <a:p>
                      <a:pPr algn="l" fontAlgn="b">
                        <a:buNone/>
                      </a:pPr>
                      <a:r>
                        <a:rPr lang="en-US" sz="2000" b="0" u="none" strike="noStrike" dirty="0" err="1">
                          <a:solidFill>
                            <a:schemeClr val="tx1"/>
                          </a:solidFill>
                          <a:effectLst/>
                        </a:rPr>
                        <a:t>Test_MSE</a:t>
                      </a:r>
                      <a:endParaRPr lang="en-US" sz="2000" b="0" i="0" u="none" strike="noStrike" dirty="0">
                        <a:solidFill>
                          <a:schemeClr val="tx1"/>
                        </a:solidFill>
                        <a:effectLst/>
                        <a:latin typeface="Aptos Narrow" panose="020B0004020202020204" pitchFamily="34" charset="0"/>
                      </a:endParaRPr>
                    </a:p>
                  </a:txBody>
                  <a:tcPr marL="9525" marR="9525" marT="9525" marB="0" anchor="b">
                    <a:solidFill>
                      <a:schemeClr val="bg1"/>
                    </a:solidFill>
                  </a:tcPr>
                </a:tc>
                <a:tc>
                  <a:txBody>
                    <a:bodyPr/>
                    <a:lstStyle/>
                    <a:p>
                      <a:pPr algn="l" fontAlgn="b">
                        <a:buNone/>
                      </a:pPr>
                      <a:r>
                        <a:rPr lang="en-US" sz="2000" b="0" u="none" strike="noStrike" dirty="0">
                          <a:solidFill>
                            <a:schemeClr val="tx1"/>
                          </a:solidFill>
                          <a:effectLst/>
                        </a:rPr>
                        <a:t>Test_R2</a:t>
                      </a:r>
                      <a:endParaRPr lang="en-US" sz="2000" b="0" i="0" u="none" strike="noStrike" dirty="0">
                        <a:solidFill>
                          <a:schemeClr val="tx1"/>
                        </a:solidFill>
                        <a:effectLst/>
                        <a:latin typeface="Aptos Narrow" panose="020B0004020202020204" pitchFamily="34" charset="0"/>
                      </a:endParaRPr>
                    </a:p>
                  </a:txBody>
                  <a:tcPr marL="9525" marR="9525" marT="9525" marB="0" anchor="b">
                    <a:solidFill>
                      <a:schemeClr val="bg1"/>
                    </a:solidFill>
                  </a:tcPr>
                </a:tc>
                <a:extLst>
                  <a:ext uri="{0D108BD9-81ED-4DB2-BD59-A6C34878D82A}">
                    <a16:rowId xmlns:a16="http://schemas.microsoft.com/office/drawing/2014/main" val="1884352059"/>
                  </a:ext>
                </a:extLst>
              </a:tr>
              <a:tr h="417706">
                <a:tc>
                  <a:txBody>
                    <a:bodyPr/>
                    <a:lstStyle/>
                    <a:p>
                      <a:pPr algn="l" fontAlgn="b">
                        <a:buNone/>
                      </a:pPr>
                      <a:r>
                        <a:rPr lang="en-US" sz="2000" b="0" u="none" strike="noStrike" dirty="0">
                          <a:solidFill>
                            <a:srgbClr val="000000"/>
                          </a:solidFill>
                          <a:effectLst/>
                        </a:rPr>
                        <a:t>Linear Regression</a:t>
                      </a:r>
                      <a:endParaRPr lang="en-US" sz="2000" b="0" i="0" u="none" strike="noStrike" dirty="0">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dirty="0">
                          <a:solidFill>
                            <a:srgbClr val="000000"/>
                          </a:solidFill>
                          <a:effectLst/>
                        </a:rPr>
                        <a:t>0.3073</a:t>
                      </a:r>
                      <a:endParaRPr lang="en-US" sz="2000" b="0" i="0" u="none" strike="noStrike" dirty="0">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dirty="0">
                          <a:solidFill>
                            <a:srgbClr val="000000"/>
                          </a:solidFill>
                          <a:effectLst/>
                        </a:rPr>
                        <a:t>0.183</a:t>
                      </a:r>
                      <a:endParaRPr lang="en-US" sz="2000" b="0" i="0" u="none" strike="noStrike" dirty="0">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a:solidFill>
                            <a:srgbClr val="000000"/>
                          </a:solidFill>
                          <a:effectLst/>
                        </a:rPr>
                        <a:t>0.79</a:t>
                      </a:r>
                      <a:endParaRPr lang="en-US" sz="2000" b="0" i="0" u="none" strike="noStrike">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a:solidFill>
                            <a:srgbClr val="000000"/>
                          </a:solidFill>
                          <a:effectLst/>
                        </a:rPr>
                        <a:t>0.3077</a:t>
                      </a:r>
                      <a:endParaRPr lang="en-US" sz="2000" b="0" i="0" u="none" strike="noStrike">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a:solidFill>
                            <a:srgbClr val="000000"/>
                          </a:solidFill>
                          <a:effectLst/>
                        </a:rPr>
                        <a:t>0.1853</a:t>
                      </a:r>
                      <a:endParaRPr lang="en-US" sz="2000" b="0" i="0" u="none" strike="noStrike">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dirty="0">
                          <a:solidFill>
                            <a:srgbClr val="000000"/>
                          </a:solidFill>
                          <a:effectLst/>
                        </a:rPr>
                        <a:t>0.7553</a:t>
                      </a:r>
                      <a:endParaRPr lang="en-US" sz="2000" b="0" i="0" u="none" strike="noStrike" dirty="0">
                        <a:solidFill>
                          <a:srgbClr val="000000"/>
                        </a:solidFill>
                        <a:effectLst/>
                        <a:latin typeface="Aptos Narrow" panose="020B0004020202020204" pitchFamily="34" charset="0"/>
                      </a:endParaRPr>
                    </a:p>
                  </a:txBody>
                  <a:tcPr marL="9525" marR="9525" marT="9525" marB="0" anchor="b">
                    <a:solidFill>
                      <a:schemeClr val="bg1"/>
                    </a:solidFill>
                  </a:tcPr>
                </a:tc>
                <a:extLst>
                  <a:ext uri="{0D108BD9-81ED-4DB2-BD59-A6C34878D82A}">
                    <a16:rowId xmlns:a16="http://schemas.microsoft.com/office/drawing/2014/main" val="2039376448"/>
                  </a:ext>
                </a:extLst>
              </a:tr>
              <a:tr h="417706">
                <a:tc>
                  <a:txBody>
                    <a:bodyPr/>
                    <a:lstStyle/>
                    <a:p>
                      <a:pPr algn="l" fontAlgn="b">
                        <a:buNone/>
                      </a:pPr>
                      <a:r>
                        <a:rPr lang="en-US" sz="2000" b="0" u="none" strike="noStrike" dirty="0">
                          <a:solidFill>
                            <a:srgbClr val="000000"/>
                          </a:solidFill>
                          <a:effectLst/>
                        </a:rPr>
                        <a:t>Decision Tree Regressor</a:t>
                      </a:r>
                      <a:endParaRPr lang="en-US" sz="2000" b="0" i="0" u="none" strike="noStrike" dirty="0">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dirty="0">
                          <a:solidFill>
                            <a:srgbClr val="000000"/>
                          </a:solidFill>
                          <a:effectLst/>
                        </a:rPr>
                        <a:t>0.3834</a:t>
                      </a:r>
                      <a:endParaRPr lang="en-US" sz="2000" b="0" i="0" u="none" strike="noStrike" dirty="0">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a:solidFill>
                            <a:srgbClr val="000000"/>
                          </a:solidFill>
                          <a:effectLst/>
                        </a:rPr>
                        <a:t>0.3127</a:t>
                      </a:r>
                      <a:endParaRPr lang="en-US" sz="2000" b="0" i="0" u="none" strike="noStrike">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a:solidFill>
                            <a:srgbClr val="000000"/>
                          </a:solidFill>
                          <a:effectLst/>
                        </a:rPr>
                        <a:t>0.6412</a:t>
                      </a:r>
                      <a:endParaRPr lang="en-US" sz="2000" b="0" i="0" u="none" strike="noStrike">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a:solidFill>
                            <a:srgbClr val="000000"/>
                          </a:solidFill>
                          <a:effectLst/>
                        </a:rPr>
                        <a:t>0.3707</a:t>
                      </a:r>
                      <a:endParaRPr lang="en-US" sz="2000" b="0" i="0" u="none" strike="noStrike">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a:solidFill>
                            <a:srgbClr val="000000"/>
                          </a:solidFill>
                          <a:effectLst/>
                        </a:rPr>
                        <a:t>0.2863</a:t>
                      </a:r>
                      <a:endParaRPr lang="en-US" sz="2000" b="0" i="0" u="none" strike="noStrike">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dirty="0">
                          <a:solidFill>
                            <a:srgbClr val="000000"/>
                          </a:solidFill>
                          <a:effectLst/>
                        </a:rPr>
                        <a:t>0.6218</a:t>
                      </a:r>
                      <a:endParaRPr lang="en-US" sz="2000" b="0" i="0" u="none" strike="noStrike" dirty="0">
                        <a:solidFill>
                          <a:srgbClr val="000000"/>
                        </a:solidFill>
                        <a:effectLst/>
                        <a:latin typeface="Aptos Narrow" panose="020B0004020202020204" pitchFamily="34" charset="0"/>
                      </a:endParaRPr>
                    </a:p>
                  </a:txBody>
                  <a:tcPr marL="9525" marR="9525" marT="9525" marB="0" anchor="b">
                    <a:solidFill>
                      <a:schemeClr val="bg1"/>
                    </a:solidFill>
                  </a:tcPr>
                </a:tc>
                <a:extLst>
                  <a:ext uri="{0D108BD9-81ED-4DB2-BD59-A6C34878D82A}">
                    <a16:rowId xmlns:a16="http://schemas.microsoft.com/office/drawing/2014/main" val="1202383086"/>
                  </a:ext>
                </a:extLst>
              </a:tr>
              <a:tr h="632547">
                <a:tc>
                  <a:txBody>
                    <a:bodyPr/>
                    <a:lstStyle/>
                    <a:p>
                      <a:pPr algn="l" fontAlgn="b">
                        <a:buNone/>
                      </a:pPr>
                      <a:r>
                        <a:rPr lang="en-US" sz="2000" b="0" u="none" strike="noStrike">
                          <a:solidFill>
                            <a:srgbClr val="000000"/>
                          </a:solidFill>
                          <a:effectLst/>
                        </a:rPr>
                        <a:t>Random Forest Regressor</a:t>
                      </a:r>
                      <a:endParaRPr lang="en-US" sz="2000" b="0" i="0" u="none" strike="noStrike">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a:solidFill>
                            <a:srgbClr val="000000"/>
                          </a:solidFill>
                          <a:effectLst/>
                        </a:rPr>
                        <a:t>0.3126</a:t>
                      </a:r>
                      <a:endParaRPr lang="en-US" sz="2000" b="0" i="0" u="none" strike="noStrike">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dirty="0">
                          <a:solidFill>
                            <a:srgbClr val="000000"/>
                          </a:solidFill>
                          <a:effectLst/>
                        </a:rPr>
                        <a:t>0.1823</a:t>
                      </a:r>
                      <a:endParaRPr lang="en-US" sz="2000" b="0" i="0" u="none" strike="noStrike" dirty="0">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a:solidFill>
                            <a:srgbClr val="000000"/>
                          </a:solidFill>
                          <a:effectLst/>
                        </a:rPr>
                        <a:t>0.7908</a:t>
                      </a:r>
                      <a:endParaRPr lang="en-US" sz="2000" b="0" i="0" u="none" strike="noStrike">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a:solidFill>
                            <a:srgbClr val="000000"/>
                          </a:solidFill>
                          <a:effectLst/>
                        </a:rPr>
                        <a:t>0.2992</a:t>
                      </a:r>
                      <a:endParaRPr lang="en-US" sz="2000" b="0" i="0" u="none" strike="noStrike">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a:solidFill>
                            <a:srgbClr val="000000"/>
                          </a:solidFill>
                          <a:effectLst/>
                        </a:rPr>
                        <a:t>0.1786</a:t>
                      </a:r>
                      <a:endParaRPr lang="en-US" sz="2000" b="0" i="0" u="none" strike="noStrike">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dirty="0">
                          <a:solidFill>
                            <a:srgbClr val="000000"/>
                          </a:solidFill>
                          <a:effectLst/>
                        </a:rPr>
                        <a:t>0.7641</a:t>
                      </a:r>
                      <a:endParaRPr lang="en-US" sz="2000" b="0" i="0" u="none" strike="noStrike" dirty="0">
                        <a:solidFill>
                          <a:srgbClr val="000000"/>
                        </a:solidFill>
                        <a:effectLst/>
                        <a:latin typeface="Aptos Narrow" panose="020B0004020202020204" pitchFamily="34" charset="0"/>
                      </a:endParaRPr>
                    </a:p>
                  </a:txBody>
                  <a:tcPr marL="9525" marR="9525" marT="9525" marB="0" anchor="b">
                    <a:solidFill>
                      <a:schemeClr val="bg1"/>
                    </a:solidFill>
                  </a:tcPr>
                </a:tc>
                <a:extLst>
                  <a:ext uri="{0D108BD9-81ED-4DB2-BD59-A6C34878D82A}">
                    <a16:rowId xmlns:a16="http://schemas.microsoft.com/office/drawing/2014/main" val="1014823323"/>
                  </a:ext>
                </a:extLst>
              </a:tr>
              <a:tr h="623345">
                <a:tc>
                  <a:txBody>
                    <a:bodyPr/>
                    <a:lstStyle/>
                    <a:p>
                      <a:pPr algn="l" fontAlgn="b">
                        <a:buNone/>
                      </a:pPr>
                      <a:r>
                        <a:rPr lang="en-US" sz="2000" b="0" u="none" strike="noStrike">
                          <a:solidFill>
                            <a:srgbClr val="000000"/>
                          </a:solidFill>
                          <a:effectLst/>
                        </a:rPr>
                        <a:t>Gradient Boosting Regressor</a:t>
                      </a:r>
                      <a:endParaRPr lang="en-US" sz="2000" b="0" i="0" u="none" strike="noStrike">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a:solidFill>
                            <a:srgbClr val="000000"/>
                          </a:solidFill>
                          <a:effectLst/>
                        </a:rPr>
                        <a:t>0.2956</a:t>
                      </a:r>
                      <a:endParaRPr lang="en-US" sz="2000" b="0" i="0" u="none" strike="noStrike">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a:solidFill>
                            <a:srgbClr val="000000"/>
                          </a:solidFill>
                          <a:effectLst/>
                        </a:rPr>
                        <a:t>0.1676</a:t>
                      </a:r>
                      <a:endParaRPr lang="en-US" sz="2000" b="0" i="0" u="none" strike="noStrike">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a:solidFill>
                            <a:srgbClr val="000000"/>
                          </a:solidFill>
                          <a:effectLst/>
                        </a:rPr>
                        <a:t>0.8077</a:t>
                      </a:r>
                      <a:endParaRPr lang="en-US" sz="2000" b="0" i="0" u="none" strike="noStrike">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a:solidFill>
                            <a:srgbClr val="000000"/>
                          </a:solidFill>
                          <a:effectLst/>
                        </a:rPr>
                        <a:t>0.2842</a:t>
                      </a:r>
                      <a:endParaRPr lang="en-US" sz="2000" b="0" i="0" u="none" strike="noStrike">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a:solidFill>
                            <a:srgbClr val="000000"/>
                          </a:solidFill>
                          <a:effectLst/>
                        </a:rPr>
                        <a:t>0.1656</a:t>
                      </a:r>
                      <a:endParaRPr lang="en-US" sz="2000" b="0" i="0" u="none" strike="noStrike">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dirty="0">
                          <a:solidFill>
                            <a:srgbClr val="000000"/>
                          </a:solidFill>
                          <a:effectLst/>
                        </a:rPr>
                        <a:t>0.7813</a:t>
                      </a:r>
                      <a:endParaRPr lang="en-US" sz="2000" b="0" i="0" u="none" strike="noStrike" dirty="0">
                        <a:solidFill>
                          <a:srgbClr val="000000"/>
                        </a:solidFill>
                        <a:effectLst/>
                        <a:latin typeface="Aptos Narrow" panose="020B0004020202020204" pitchFamily="34" charset="0"/>
                      </a:endParaRPr>
                    </a:p>
                  </a:txBody>
                  <a:tcPr marL="9525" marR="9525" marT="9525" marB="0" anchor="b">
                    <a:solidFill>
                      <a:schemeClr val="bg1"/>
                    </a:solidFill>
                  </a:tcPr>
                </a:tc>
                <a:extLst>
                  <a:ext uri="{0D108BD9-81ED-4DB2-BD59-A6C34878D82A}">
                    <a16:rowId xmlns:a16="http://schemas.microsoft.com/office/drawing/2014/main" val="1826087870"/>
                  </a:ext>
                </a:extLst>
              </a:tr>
              <a:tr h="623345">
                <a:tc>
                  <a:txBody>
                    <a:bodyPr/>
                    <a:lstStyle/>
                    <a:p>
                      <a:pPr algn="l" fontAlgn="b">
                        <a:buNone/>
                      </a:pPr>
                      <a:r>
                        <a:rPr lang="en-US" sz="2000" b="0" u="none" strike="noStrike">
                          <a:solidFill>
                            <a:srgbClr val="000000"/>
                          </a:solidFill>
                          <a:effectLst/>
                        </a:rPr>
                        <a:t>K-Nearest Neighbors Regressor</a:t>
                      </a:r>
                      <a:endParaRPr lang="en-US" sz="2000" b="0" i="0" u="none" strike="noStrike">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a:solidFill>
                            <a:srgbClr val="000000"/>
                          </a:solidFill>
                          <a:effectLst/>
                        </a:rPr>
                        <a:t>0.3096</a:t>
                      </a:r>
                      <a:endParaRPr lang="en-US" sz="2000" b="0" i="0" u="none" strike="noStrike">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a:solidFill>
                            <a:srgbClr val="000000"/>
                          </a:solidFill>
                          <a:effectLst/>
                        </a:rPr>
                        <a:t>0.1788</a:t>
                      </a:r>
                      <a:endParaRPr lang="en-US" sz="2000" b="0" i="0" u="none" strike="noStrike">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a:solidFill>
                            <a:srgbClr val="000000"/>
                          </a:solidFill>
                          <a:effectLst/>
                        </a:rPr>
                        <a:t>0.7948</a:t>
                      </a:r>
                      <a:endParaRPr lang="en-US" sz="2000" b="0" i="0" u="none" strike="noStrike">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a:solidFill>
                            <a:srgbClr val="000000"/>
                          </a:solidFill>
                          <a:effectLst/>
                        </a:rPr>
                        <a:t>0.305</a:t>
                      </a:r>
                      <a:endParaRPr lang="en-US" sz="2000" b="0" i="0" u="none" strike="noStrike">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a:solidFill>
                            <a:srgbClr val="000000"/>
                          </a:solidFill>
                          <a:effectLst/>
                        </a:rPr>
                        <a:t>0.1804</a:t>
                      </a:r>
                      <a:endParaRPr lang="en-US" sz="2000" b="0" i="0" u="none" strike="noStrike">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dirty="0">
                          <a:solidFill>
                            <a:srgbClr val="000000"/>
                          </a:solidFill>
                          <a:effectLst/>
                        </a:rPr>
                        <a:t>0.7617</a:t>
                      </a:r>
                      <a:endParaRPr lang="en-US" sz="2000" b="0" i="0" u="none" strike="noStrike" dirty="0">
                        <a:solidFill>
                          <a:srgbClr val="000000"/>
                        </a:solidFill>
                        <a:effectLst/>
                        <a:latin typeface="Aptos Narrow" panose="020B0004020202020204" pitchFamily="34" charset="0"/>
                      </a:endParaRPr>
                    </a:p>
                  </a:txBody>
                  <a:tcPr marL="9525" marR="9525" marT="9525" marB="0" anchor="b">
                    <a:solidFill>
                      <a:schemeClr val="bg1"/>
                    </a:solidFill>
                  </a:tcPr>
                </a:tc>
                <a:extLst>
                  <a:ext uri="{0D108BD9-81ED-4DB2-BD59-A6C34878D82A}">
                    <a16:rowId xmlns:a16="http://schemas.microsoft.com/office/drawing/2014/main" val="1859217222"/>
                  </a:ext>
                </a:extLst>
              </a:tr>
              <a:tr h="417706">
                <a:tc>
                  <a:txBody>
                    <a:bodyPr/>
                    <a:lstStyle/>
                    <a:p>
                      <a:pPr algn="l" fontAlgn="b">
                        <a:buNone/>
                      </a:pPr>
                      <a:r>
                        <a:rPr lang="en-US" sz="2000" b="0" u="none" strike="noStrike">
                          <a:solidFill>
                            <a:srgbClr val="000000"/>
                          </a:solidFill>
                          <a:effectLst/>
                        </a:rPr>
                        <a:t>Voting Ensemble</a:t>
                      </a:r>
                      <a:endParaRPr lang="en-US" sz="2000" b="0" i="0" u="none" strike="noStrike">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a:solidFill>
                            <a:srgbClr val="000000"/>
                          </a:solidFill>
                          <a:effectLst/>
                        </a:rPr>
                        <a:t>0.2924</a:t>
                      </a:r>
                      <a:endParaRPr lang="en-US" sz="2000" b="0" i="0" u="none" strike="noStrike">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a:solidFill>
                            <a:srgbClr val="000000"/>
                          </a:solidFill>
                          <a:effectLst/>
                        </a:rPr>
                        <a:t>0.1615</a:t>
                      </a:r>
                      <a:endParaRPr lang="en-US" sz="2000" b="0" i="0" u="none" strike="noStrike">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dirty="0">
                          <a:solidFill>
                            <a:srgbClr val="000000"/>
                          </a:solidFill>
                          <a:effectLst/>
                        </a:rPr>
                        <a:t>0.8147</a:t>
                      </a:r>
                      <a:endParaRPr lang="en-US" sz="2000" b="0" i="0" u="none" strike="noStrike" dirty="0">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a:solidFill>
                            <a:srgbClr val="000000"/>
                          </a:solidFill>
                          <a:effectLst/>
                        </a:rPr>
                        <a:t>0.283</a:t>
                      </a:r>
                      <a:endParaRPr lang="en-US" sz="2000" b="0" i="0" u="none" strike="noStrike">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a:solidFill>
                            <a:srgbClr val="000000"/>
                          </a:solidFill>
                          <a:effectLst/>
                        </a:rPr>
                        <a:t>0.1601</a:t>
                      </a:r>
                      <a:endParaRPr lang="en-US" sz="2000" b="0" i="0" u="none" strike="noStrike">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dirty="0">
                          <a:solidFill>
                            <a:srgbClr val="000000"/>
                          </a:solidFill>
                          <a:effectLst/>
                        </a:rPr>
                        <a:t>0.7885</a:t>
                      </a:r>
                      <a:endParaRPr lang="en-US" sz="2000" b="0" i="0" u="none" strike="noStrike" dirty="0">
                        <a:solidFill>
                          <a:srgbClr val="000000"/>
                        </a:solidFill>
                        <a:effectLst/>
                        <a:latin typeface="Aptos Narrow" panose="020B0004020202020204" pitchFamily="34" charset="0"/>
                      </a:endParaRPr>
                    </a:p>
                  </a:txBody>
                  <a:tcPr marL="9525" marR="9525" marT="9525" marB="0" anchor="b">
                    <a:solidFill>
                      <a:schemeClr val="bg1"/>
                    </a:solidFill>
                  </a:tcPr>
                </a:tc>
                <a:extLst>
                  <a:ext uri="{0D108BD9-81ED-4DB2-BD59-A6C34878D82A}">
                    <a16:rowId xmlns:a16="http://schemas.microsoft.com/office/drawing/2014/main" val="1312037195"/>
                  </a:ext>
                </a:extLst>
              </a:tr>
              <a:tr h="417706">
                <a:tc>
                  <a:txBody>
                    <a:bodyPr/>
                    <a:lstStyle/>
                    <a:p>
                      <a:pPr algn="l" fontAlgn="b">
                        <a:buNone/>
                      </a:pPr>
                      <a:r>
                        <a:rPr lang="en-US" sz="2000" b="0" u="none" strike="noStrike" dirty="0">
                          <a:solidFill>
                            <a:srgbClr val="000000"/>
                          </a:solidFill>
                          <a:effectLst/>
                        </a:rPr>
                        <a:t>Bayesian Ensemble</a:t>
                      </a:r>
                      <a:endParaRPr lang="en-US" sz="2000" b="0" i="0" u="none" strike="noStrike" dirty="0">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a:solidFill>
                            <a:srgbClr val="000000"/>
                          </a:solidFill>
                          <a:effectLst/>
                        </a:rPr>
                        <a:t>0.2913</a:t>
                      </a:r>
                      <a:endParaRPr lang="en-US" sz="2000" b="0" i="0" u="none" strike="noStrike">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dirty="0">
                          <a:solidFill>
                            <a:srgbClr val="000000"/>
                          </a:solidFill>
                          <a:effectLst/>
                        </a:rPr>
                        <a:t>0.1582</a:t>
                      </a:r>
                      <a:endParaRPr lang="en-US" sz="2000" b="0" i="0" u="none" strike="noStrike" dirty="0">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dirty="0">
                          <a:solidFill>
                            <a:srgbClr val="000000"/>
                          </a:solidFill>
                          <a:effectLst/>
                        </a:rPr>
                        <a:t>0.8184</a:t>
                      </a:r>
                      <a:endParaRPr lang="en-US" sz="2000" b="0" i="0" u="none" strike="noStrike" dirty="0">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a:solidFill>
                            <a:srgbClr val="000000"/>
                          </a:solidFill>
                          <a:effectLst/>
                        </a:rPr>
                        <a:t>0.2812</a:t>
                      </a:r>
                      <a:endParaRPr lang="en-US" sz="2000" b="0" i="0" u="none" strike="noStrike">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a:solidFill>
                            <a:srgbClr val="000000"/>
                          </a:solidFill>
                          <a:effectLst/>
                        </a:rPr>
                        <a:t>0.1594</a:t>
                      </a:r>
                      <a:endParaRPr lang="en-US" sz="2000" b="0" i="0" u="none" strike="noStrike">
                        <a:solidFill>
                          <a:srgbClr val="000000"/>
                        </a:solidFill>
                        <a:effectLst/>
                        <a:latin typeface="Aptos Narrow" panose="020B0004020202020204" pitchFamily="34" charset="0"/>
                      </a:endParaRPr>
                    </a:p>
                  </a:txBody>
                  <a:tcPr marL="9525" marR="9525" marT="9525" marB="0" anchor="b">
                    <a:solidFill>
                      <a:schemeClr val="bg1"/>
                    </a:solidFill>
                  </a:tcPr>
                </a:tc>
                <a:tc>
                  <a:txBody>
                    <a:bodyPr/>
                    <a:lstStyle/>
                    <a:p>
                      <a:pPr algn="r" fontAlgn="b">
                        <a:buNone/>
                      </a:pPr>
                      <a:r>
                        <a:rPr lang="en-US" sz="2000" b="0" u="none" strike="noStrike" dirty="0">
                          <a:solidFill>
                            <a:srgbClr val="000000"/>
                          </a:solidFill>
                          <a:effectLst/>
                        </a:rPr>
                        <a:t>0.7894</a:t>
                      </a:r>
                      <a:endParaRPr lang="en-US" sz="2000" b="0" i="0" u="none" strike="noStrike" dirty="0">
                        <a:solidFill>
                          <a:srgbClr val="000000"/>
                        </a:solidFill>
                        <a:effectLst/>
                        <a:latin typeface="Aptos Narrow" panose="020B0004020202020204" pitchFamily="34" charset="0"/>
                      </a:endParaRPr>
                    </a:p>
                  </a:txBody>
                  <a:tcPr marL="9525" marR="9525" marT="9525" marB="0" anchor="b">
                    <a:solidFill>
                      <a:schemeClr val="bg1"/>
                    </a:solidFill>
                  </a:tcPr>
                </a:tc>
                <a:extLst>
                  <a:ext uri="{0D108BD9-81ED-4DB2-BD59-A6C34878D82A}">
                    <a16:rowId xmlns:a16="http://schemas.microsoft.com/office/drawing/2014/main" val="3576279240"/>
                  </a:ext>
                </a:extLst>
              </a:tr>
            </a:tbl>
          </a:graphicData>
        </a:graphic>
      </p:graphicFrame>
    </p:spTree>
    <p:extLst>
      <p:ext uri="{BB962C8B-B14F-4D97-AF65-F5344CB8AC3E}">
        <p14:creationId xmlns:p14="http://schemas.microsoft.com/office/powerpoint/2010/main" val="2558113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31D78-CF45-779D-B57E-280BAE5946DA}"/>
              </a:ext>
            </a:extLst>
          </p:cNvPr>
          <p:cNvSpPr>
            <a:spLocks noGrp="1"/>
          </p:cNvSpPr>
          <p:nvPr>
            <p:ph type="title"/>
          </p:nvPr>
        </p:nvSpPr>
        <p:spPr/>
        <p:txBody>
          <a:bodyPr/>
          <a:lstStyle/>
          <a:p>
            <a:r>
              <a:rPr lang="en-US" sz="3600" b="1" dirty="0">
                <a:solidFill>
                  <a:schemeClr val="accent1"/>
                </a:solidFill>
              </a:rPr>
              <a:t> Which model performed best and worst?</a:t>
            </a:r>
            <a:br>
              <a:rPr lang="en-US" b="1" dirty="0"/>
            </a:br>
            <a:endParaRPr lang="en-US" dirty="0"/>
          </a:p>
        </p:txBody>
      </p:sp>
      <p:sp>
        <p:nvSpPr>
          <p:cNvPr id="3" name="Content Placeholder 2">
            <a:extLst>
              <a:ext uri="{FF2B5EF4-FFF2-40B4-BE49-F238E27FC236}">
                <a16:creationId xmlns:a16="http://schemas.microsoft.com/office/drawing/2014/main" id="{C92EDD49-D49A-A53C-197E-12022FD6F9D3}"/>
              </a:ext>
            </a:extLst>
          </p:cNvPr>
          <p:cNvSpPr>
            <a:spLocks noGrp="1"/>
          </p:cNvSpPr>
          <p:nvPr>
            <p:ph idx="1"/>
          </p:nvPr>
        </p:nvSpPr>
        <p:spPr>
          <a:xfrm>
            <a:off x="434715" y="1229192"/>
            <a:ext cx="10917836" cy="5021705"/>
          </a:xfrm>
        </p:spPr>
        <p:txBody>
          <a:bodyPr>
            <a:normAutofit lnSpcReduction="10000"/>
          </a:bodyPr>
          <a:lstStyle/>
          <a:p>
            <a:pPr marL="0" indent="0">
              <a:buNone/>
            </a:pPr>
            <a:r>
              <a:rPr lang="en-US" sz="2400" b="1" dirty="0">
                <a:solidFill>
                  <a:schemeClr val="accent1"/>
                </a:solidFill>
              </a:rPr>
              <a:t>Best Model: Bayesian Ensemble</a:t>
            </a:r>
            <a:br>
              <a:rPr lang="en-US" sz="2400" b="1" dirty="0">
                <a:solidFill>
                  <a:schemeClr val="accent1"/>
                </a:solidFill>
              </a:rPr>
            </a:br>
            <a:br>
              <a:rPr lang="en-US" sz="2400" b="1" dirty="0">
                <a:solidFill>
                  <a:schemeClr val="accent1"/>
                </a:solidFill>
              </a:rPr>
            </a:br>
            <a:r>
              <a:rPr lang="en-US" sz="2000" dirty="0"/>
              <a:t>The Bayesian Ensemble achieved the highest R² scores and the lowest MAE and MSE values across the validation and test datasets. By combining predictions from multiple strong models, it improved overall prediction accuracy and produced more stable results compared to individual regression models.</a:t>
            </a:r>
            <a:br>
              <a:rPr lang="en-US" sz="2000" dirty="0"/>
            </a:br>
            <a:br>
              <a:rPr lang="en-US" dirty="0"/>
            </a:br>
            <a:r>
              <a:rPr lang="en-US" dirty="0"/>
              <a:t> </a:t>
            </a:r>
            <a:r>
              <a:rPr lang="en-US" sz="2400" b="1" dirty="0">
                <a:solidFill>
                  <a:schemeClr val="accent1"/>
                </a:solidFill>
              </a:rPr>
              <a:t>Worst Model: Decision Tree Regressor</a:t>
            </a:r>
            <a:endParaRPr lang="en-US" sz="2400" dirty="0">
              <a:solidFill>
                <a:schemeClr val="accent1"/>
              </a:solidFill>
            </a:endParaRPr>
          </a:p>
          <a:p>
            <a:pPr marL="0" indent="0">
              <a:buNone/>
            </a:pPr>
            <a:r>
              <a:rPr lang="en-US" sz="2000" dirty="0"/>
              <a:t>The Decision Tree Regressor showed the lowest R² values and higher prediction errors compared to other models. Its weaker performance suggests overfitting and poor generalization on the test data</a:t>
            </a:r>
            <a:br>
              <a:rPr lang="en-US" sz="2000" dirty="0"/>
            </a:br>
            <a:br>
              <a:rPr lang="en-US" sz="2400" dirty="0">
                <a:solidFill>
                  <a:schemeClr val="accent1"/>
                </a:solidFill>
              </a:rPr>
            </a:br>
            <a:r>
              <a:rPr lang="en-US" sz="2400" b="1" dirty="0">
                <a:solidFill>
                  <a:schemeClr val="accent1"/>
                </a:solidFill>
              </a:rPr>
              <a:t>Conclusion</a:t>
            </a:r>
          </a:p>
          <a:p>
            <a:pPr marL="0" indent="0">
              <a:buNone/>
            </a:pPr>
            <a:r>
              <a:rPr lang="en-US" sz="2000" dirty="0"/>
              <a:t>The regression models were successfully evaluated using validation and test metrics. The Bayesian Ensemble model achieved the best performance, while the Decision Tree Regressor showed the weakest results. Ensemble learning improved overall prediction accuracy and produced more reliable results compared to individual models.</a:t>
            </a:r>
          </a:p>
          <a:p>
            <a:pPr marL="0" indent="0">
              <a:buNone/>
            </a:pPr>
            <a:endParaRPr lang="en-US" sz="2000" dirty="0"/>
          </a:p>
        </p:txBody>
      </p:sp>
    </p:spTree>
    <p:extLst>
      <p:ext uri="{BB962C8B-B14F-4D97-AF65-F5344CB8AC3E}">
        <p14:creationId xmlns:p14="http://schemas.microsoft.com/office/powerpoint/2010/main" val="453021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70</TotalTime>
  <Words>253</Words>
  <Application>Microsoft Office PowerPoint</Application>
  <PresentationFormat>Widescreen</PresentationFormat>
  <Paragraphs>65</Paragraphs>
  <Slides>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Aptos</vt:lpstr>
      <vt:lpstr>Aptos Display</vt:lpstr>
      <vt:lpstr>Aptos Narrow</vt:lpstr>
      <vt:lpstr>Arial</vt:lpstr>
      <vt:lpstr>Office Theme</vt:lpstr>
      <vt:lpstr>Regression Task — Validation &amp; Test Metrics ITAI 1371 | Spring 2026</vt:lpstr>
      <vt:lpstr> Which model performed best and worst?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Sandhya Chamakuri</dc:creator>
  <cp:lastModifiedBy>Sandhya Chamakuri</cp:lastModifiedBy>
  <cp:revision>1</cp:revision>
  <dcterms:created xsi:type="dcterms:W3CDTF">2026-05-05T22:15:29Z</dcterms:created>
  <dcterms:modified xsi:type="dcterms:W3CDTF">2026-05-05T23:26:00Z</dcterms:modified>
</cp:coreProperties>
</file>